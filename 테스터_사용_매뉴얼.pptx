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5" d="100"/>
          <a:sy n="145" d="100"/>
        </p:scale>
        <p:origin x="114" y="12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334129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023360"/>
            <a:ext cx="9144000" cy="11201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91440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38BDF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나만의 주치의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731520" y="256032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테스터 사용 매뉴얼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31520" y="42976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2026.04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38BDF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목차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914400" y="1371600"/>
            <a:ext cx="7315200" cy="411480"/>
          </a:xfrm>
          <a:prstGeom prst="roundRect">
            <a:avLst>
              <a:gd name="adj" fmla="val 11111"/>
            </a:avLst>
          </a:prstGeom>
          <a:solidFill>
            <a:srgbClr val="1E293B"/>
          </a:solidFill>
          <a:ln/>
        </p:spPr>
      </p:sp>
      <p:sp>
        <p:nvSpPr>
          <p:cNvPr id="4" name="Text 2"/>
          <p:cNvSpPr/>
          <p:nvPr/>
        </p:nvSpPr>
        <p:spPr>
          <a:xfrm>
            <a:off x="1188720" y="137160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1F5F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 회원가입 및 로그인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914400" y="1874520"/>
            <a:ext cx="7315200" cy="411480"/>
          </a:xfrm>
          <a:prstGeom prst="roundRect">
            <a:avLst>
              <a:gd name="adj" fmla="val 11111"/>
            </a:avLst>
          </a:prstGeom>
          <a:solidFill>
            <a:srgbClr val="1E293B"/>
          </a:solidFill>
          <a:ln/>
        </p:spPr>
      </p:sp>
      <p:sp>
        <p:nvSpPr>
          <p:cNvPr id="6" name="Text 4"/>
          <p:cNvSpPr/>
          <p:nvPr/>
        </p:nvSpPr>
        <p:spPr>
          <a:xfrm>
            <a:off x="1188720" y="187452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1F5F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 채팅 테스터 화면 구성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914400" y="2377440"/>
            <a:ext cx="7315200" cy="411480"/>
          </a:xfrm>
          <a:prstGeom prst="roundRect">
            <a:avLst>
              <a:gd name="adj" fmla="val 11111"/>
            </a:avLst>
          </a:prstGeom>
          <a:solidFill>
            <a:srgbClr val="1E293B"/>
          </a:solidFill>
          <a:ln/>
        </p:spPr>
      </p:sp>
      <p:sp>
        <p:nvSpPr>
          <p:cNvPr id="8" name="Text 6"/>
          <p:cNvSpPr/>
          <p:nvPr/>
        </p:nvSpPr>
        <p:spPr>
          <a:xfrm>
            <a:off x="1188720" y="237744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1F5F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AI와 대화하기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914400" y="2880360"/>
            <a:ext cx="7315200" cy="411480"/>
          </a:xfrm>
          <a:prstGeom prst="roundRect">
            <a:avLst>
              <a:gd name="adj" fmla="val 11111"/>
            </a:avLst>
          </a:prstGeom>
          <a:solidFill>
            <a:srgbClr val="1E293B"/>
          </a:solidFill>
          <a:ln/>
        </p:spPr>
      </p:sp>
      <p:sp>
        <p:nvSpPr>
          <p:cNvPr id="10" name="Text 8"/>
          <p:cNvSpPr/>
          <p:nvPr/>
        </p:nvSpPr>
        <p:spPr>
          <a:xfrm>
            <a:off x="1188720" y="288036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1F5F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4. 피드백 남기기 (좋음 / 나쁨)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914400" y="3383280"/>
            <a:ext cx="7315200" cy="411480"/>
          </a:xfrm>
          <a:prstGeom prst="roundRect">
            <a:avLst>
              <a:gd name="adj" fmla="val 11111"/>
            </a:avLst>
          </a:prstGeom>
          <a:solidFill>
            <a:srgbClr val="1E293B"/>
          </a:solidFill>
          <a:ln/>
        </p:spPr>
      </p:sp>
      <p:sp>
        <p:nvSpPr>
          <p:cNvPr id="12" name="Text 10"/>
          <p:cNvSpPr/>
          <p:nvPr/>
        </p:nvSpPr>
        <p:spPr>
          <a:xfrm>
            <a:off x="1188720" y="338328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1F5F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5. 커멘트 달기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914400" y="3886200"/>
            <a:ext cx="7315200" cy="411480"/>
          </a:xfrm>
          <a:prstGeom prst="roundRect">
            <a:avLst>
              <a:gd name="adj" fmla="val 11111"/>
            </a:avLst>
          </a:prstGeom>
          <a:solidFill>
            <a:srgbClr val="1E293B"/>
          </a:solidFill>
          <a:ln/>
        </p:spPr>
      </p:sp>
      <p:sp>
        <p:nvSpPr>
          <p:cNvPr id="14" name="Text 12"/>
          <p:cNvSpPr/>
          <p:nvPr/>
        </p:nvSpPr>
        <p:spPr>
          <a:xfrm>
            <a:off x="1188720" y="388620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1F5F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6. 시나리오 추출 및 등록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914400" y="4389120"/>
            <a:ext cx="7315200" cy="411480"/>
          </a:xfrm>
          <a:prstGeom prst="roundRect">
            <a:avLst>
              <a:gd name="adj" fmla="val 11111"/>
            </a:avLst>
          </a:prstGeom>
          <a:solidFill>
            <a:srgbClr val="1E293B"/>
          </a:solidFill>
          <a:ln/>
        </p:spPr>
      </p:sp>
      <p:sp>
        <p:nvSpPr>
          <p:cNvPr id="16" name="Text 14"/>
          <p:cNvSpPr/>
          <p:nvPr/>
        </p:nvSpPr>
        <p:spPr>
          <a:xfrm>
            <a:off x="1188720" y="438912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1F5F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7. RLHF 관리에서 결과 확인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8BDF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 회원가입</a:t>
            </a:r>
            <a:endParaRPr lang="en-US" sz="28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754880" y="914400"/>
            <a:ext cx="3931920" cy="347472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48640" y="914400"/>
            <a:ext cx="3931920" cy="3840480"/>
          </a:xfrm>
          <a:prstGeom prst="roundRect">
            <a:avLst>
              <a:gd name="adj" fmla="val 2381"/>
            </a:avLst>
          </a:prstGeom>
          <a:solidFill>
            <a:srgbClr val="1E293B"/>
          </a:solidFill>
          <a:ln/>
        </p:spPr>
      </p:sp>
      <p:sp>
        <p:nvSpPr>
          <p:cNvPr id="5" name="Shape 2"/>
          <p:cNvSpPr/>
          <p:nvPr/>
        </p:nvSpPr>
        <p:spPr>
          <a:xfrm>
            <a:off x="822960" y="1188720"/>
            <a:ext cx="365760" cy="365760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6" name="Text 3"/>
          <p:cNvSpPr/>
          <p:nvPr/>
        </p:nvSpPr>
        <p:spPr>
          <a:xfrm>
            <a:off x="822960" y="1188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371600" y="114300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사이트 접속 후 로그인 모달에서</a:t>
            </a: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'회원가입' 탭을 클릭합니다.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822960" y="2057400"/>
            <a:ext cx="365760" cy="365760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9" name="Text 6"/>
          <p:cNvSpPr/>
          <p:nvPr/>
        </p:nvSpPr>
        <p:spPr>
          <a:xfrm>
            <a:off x="822960" y="20574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371600" y="201168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ID (2자 이상), 이름, 소속,</a:t>
            </a: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비밀번호 (4자 이상)를 입력합니다.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822960" y="2926080"/>
            <a:ext cx="365760" cy="365760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12" name="Text 9"/>
          <p:cNvSpPr/>
          <p:nvPr/>
        </p:nvSpPr>
        <p:spPr>
          <a:xfrm>
            <a:off x="822960" y="2926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1371600" y="288036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'가입 신청' 버튼을 클릭합니다.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822960" y="3794760"/>
            <a:ext cx="365760" cy="365760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15" name="Text 12"/>
          <p:cNvSpPr/>
          <p:nvPr/>
        </p:nvSpPr>
        <p:spPr>
          <a:xfrm>
            <a:off x="822960" y="3794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1371600" y="374904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관리자 승인을 기다립니다.</a:t>
            </a: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승인 후 로그인이 가능합니다.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731520" y="4572000"/>
            <a:ext cx="7680960" cy="365760"/>
          </a:xfrm>
          <a:prstGeom prst="roundRect">
            <a:avLst>
              <a:gd name="adj" fmla="val 12500"/>
            </a:avLst>
          </a:prstGeom>
          <a:solidFill>
            <a:srgbClr val="1E3A5F"/>
          </a:solidFill>
          <a:ln/>
        </p:spPr>
      </p:sp>
      <p:sp>
        <p:nvSpPr>
          <p:cNvPr id="18" name="Text 15"/>
          <p:cNvSpPr/>
          <p:nvPr/>
        </p:nvSpPr>
        <p:spPr>
          <a:xfrm>
            <a:off x="914400" y="45720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8BDF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TIP: 소속은 선택사항이지만 입력하면 관리자가 승인 시 참고할 수 있습니다.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8BDF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 로그인</a:t>
            </a:r>
            <a:endParaRPr lang="en-US" sz="28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754880" y="914400"/>
            <a:ext cx="3931920" cy="347472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48640" y="914400"/>
            <a:ext cx="3931920" cy="2743200"/>
          </a:xfrm>
          <a:prstGeom prst="roundRect">
            <a:avLst>
              <a:gd name="adj" fmla="val 3333"/>
            </a:avLst>
          </a:prstGeom>
          <a:solidFill>
            <a:srgbClr val="1E293B"/>
          </a:solidFill>
          <a:ln/>
        </p:spPr>
      </p:sp>
      <p:sp>
        <p:nvSpPr>
          <p:cNvPr id="5" name="Shape 2"/>
          <p:cNvSpPr/>
          <p:nvPr/>
        </p:nvSpPr>
        <p:spPr>
          <a:xfrm>
            <a:off x="822960" y="1188720"/>
            <a:ext cx="365760" cy="365760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6" name="Text 3"/>
          <p:cNvSpPr/>
          <p:nvPr/>
        </p:nvSpPr>
        <p:spPr>
          <a:xfrm>
            <a:off x="822960" y="1188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371600" y="114300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'로그인' 탭에서 가입한 ID와</a:t>
            </a: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비밀번호를 입력합니다.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822960" y="1965960"/>
            <a:ext cx="365760" cy="365760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9" name="Text 6"/>
          <p:cNvSpPr/>
          <p:nvPr/>
        </p:nvSpPr>
        <p:spPr>
          <a:xfrm>
            <a:off x="822960" y="1965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371600" y="192024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'로그인' 버튼을 클릭하거나</a:t>
            </a: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Enter 키를 누릅니다.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822960" y="2743200"/>
            <a:ext cx="365760" cy="365760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12" name="Text 9"/>
          <p:cNvSpPr/>
          <p:nvPr/>
        </p:nvSpPr>
        <p:spPr>
          <a:xfrm>
            <a:off x="822960" y="2743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1371600" y="269748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로그인 성공 시 우측 상단에</a:t>
            </a: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이름 배지가 표시됩니다.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8BDF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 채팅 테스터 화면 구성</a:t>
            </a:r>
            <a:endParaRPr lang="en-US" sz="28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914400"/>
            <a:ext cx="5029200" cy="384048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760720" y="914400"/>
            <a:ext cx="3017520" cy="777240"/>
          </a:xfrm>
          <a:prstGeom prst="roundRect">
            <a:avLst>
              <a:gd name="adj" fmla="val 9412"/>
            </a:avLst>
          </a:prstGeom>
          <a:solidFill>
            <a:srgbClr val="1E293B"/>
          </a:solidFill>
          <a:ln/>
        </p:spPr>
      </p:sp>
      <p:sp>
        <p:nvSpPr>
          <p:cNvPr id="5" name="Shape 2"/>
          <p:cNvSpPr/>
          <p:nvPr/>
        </p:nvSpPr>
        <p:spPr>
          <a:xfrm>
            <a:off x="5943600" y="1005840"/>
            <a:ext cx="320040" cy="320040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6" name="Text 3"/>
          <p:cNvSpPr/>
          <p:nvPr/>
        </p:nvSpPr>
        <p:spPr>
          <a:xfrm>
            <a:off x="5943600" y="10058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400800" y="9601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좌측 사이드바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400800" y="123444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대화 목록, 새 대화 생성,</a:t>
            </a:r>
            <a:endParaRPr lang="en-US" sz="10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대화 검색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760720" y="1828800"/>
            <a:ext cx="3017520" cy="777240"/>
          </a:xfrm>
          <a:prstGeom prst="roundRect">
            <a:avLst>
              <a:gd name="adj" fmla="val 9412"/>
            </a:avLst>
          </a:prstGeom>
          <a:solidFill>
            <a:srgbClr val="1E293B"/>
          </a:solidFill>
          <a:ln/>
        </p:spPr>
      </p:sp>
      <p:sp>
        <p:nvSpPr>
          <p:cNvPr id="10" name="Shape 7"/>
          <p:cNvSpPr/>
          <p:nvPr/>
        </p:nvSpPr>
        <p:spPr>
          <a:xfrm>
            <a:off x="5943600" y="1920240"/>
            <a:ext cx="320040" cy="320040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11" name="Text 8"/>
          <p:cNvSpPr/>
          <p:nvPr/>
        </p:nvSpPr>
        <p:spPr>
          <a:xfrm>
            <a:off x="5943600" y="19202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400800" y="18745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상단 네비게이션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6400800" y="214884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채팅 테스터, 시나리오 관리,</a:t>
            </a:r>
            <a:endParaRPr lang="en-US" sz="10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RLHF 관리 등 메뉴 이동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760720" y="2743200"/>
            <a:ext cx="3017520" cy="777240"/>
          </a:xfrm>
          <a:prstGeom prst="roundRect">
            <a:avLst>
              <a:gd name="adj" fmla="val 9412"/>
            </a:avLst>
          </a:prstGeom>
          <a:solidFill>
            <a:srgbClr val="1E293B"/>
          </a:solidFill>
          <a:ln/>
        </p:spPr>
      </p:sp>
      <p:sp>
        <p:nvSpPr>
          <p:cNvPr id="15" name="Shape 12"/>
          <p:cNvSpPr/>
          <p:nvPr/>
        </p:nvSpPr>
        <p:spPr>
          <a:xfrm>
            <a:off x="5943600" y="2834640"/>
            <a:ext cx="320040" cy="320040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16" name="Text 13"/>
          <p:cNvSpPr/>
          <p:nvPr/>
        </p:nvSpPr>
        <p:spPr>
          <a:xfrm>
            <a:off x="5943600" y="28346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6400800" y="27889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중앙 대화 영역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6400800" y="306324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응답, 참고 자료,</a:t>
            </a:r>
            <a:endParaRPr lang="en-US" sz="10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후속 질문 표시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5760720" y="3657600"/>
            <a:ext cx="3017520" cy="777240"/>
          </a:xfrm>
          <a:prstGeom prst="roundRect">
            <a:avLst>
              <a:gd name="adj" fmla="val 9412"/>
            </a:avLst>
          </a:prstGeom>
          <a:solidFill>
            <a:srgbClr val="1E293B"/>
          </a:solidFill>
          <a:ln/>
        </p:spPr>
      </p:sp>
      <p:sp>
        <p:nvSpPr>
          <p:cNvPr id="20" name="Shape 17"/>
          <p:cNvSpPr/>
          <p:nvPr/>
        </p:nvSpPr>
        <p:spPr>
          <a:xfrm>
            <a:off x="5943600" y="3749040"/>
            <a:ext cx="320040" cy="320040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21" name="Text 18"/>
          <p:cNvSpPr/>
          <p:nvPr/>
        </p:nvSpPr>
        <p:spPr>
          <a:xfrm>
            <a:off x="5943600" y="37490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6400800" y="37033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하단 입력창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6400800" y="397764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질문 입력 후</a:t>
            </a:r>
            <a:endParaRPr lang="en-US" sz="10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Enter로 전송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8BDF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AI와 대화하기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005840"/>
            <a:ext cx="7680960" cy="822960"/>
          </a:xfrm>
          <a:prstGeom prst="roundRect">
            <a:avLst>
              <a:gd name="adj" fmla="val 8889"/>
            </a:avLst>
          </a:prstGeom>
          <a:solidFill>
            <a:srgbClr val="1E293B"/>
          </a:solidFill>
          <a:ln/>
        </p:spPr>
      </p:sp>
      <p:sp>
        <p:nvSpPr>
          <p:cNvPr id="4" name="Shape 2"/>
          <p:cNvSpPr/>
          <p:nvPr/>
        </p:nvSpPr>
        <p:spPr>
          <a:xfrm>
            <a:off x="1005840" y="1143000"/>
            <a:ext cx="411480" cy="411480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1430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645920" y="1051560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하단 입력창에 건강 관련 질문을 입력합니다.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645920" y="1417320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예: "비타민 D가 부족하면 어떤 증상이 나타나나요?"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31520" y="1965960"/>
            <a:ext cx="7680960" cy="822960"/>
          </a:xfrm>
          <a:prstGeom prst="roundRect">
            <a:avLst>
              <a:gd name="adj" fmla="val 8889"/>
            </a:avLst>
          </a:prstGeom>
          <a:solidFill>
            <a:srgbClr val="1E293B"/>
          </a:solidFill>
          <a:ln/>
        </p:spPr>
      </p:sp>
      <p:sp>
        <p:nvSpPr>
          <p:cNvPr id="9" name="Shape 7"/>
          <p:cNvSpPr/>
          <p:nvPr/>
        </p:nvSpPr>
        <p:spPr>
          <a:xfrm>
            <a:off x="1005840" y="2103120"/>
            <a:ext cx="411480" cy="411480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21031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645920" y="2011680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Enter 키를 누르거나 전송 버튼을 클릭합니다.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645920" y="2377440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Shift+Enter로 줄바꿈 가능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31520" y="2926080"/>
            <a:ext cx="7680960" cy="822960"/>
          </a:xfrm>
          <a:prstGeom prst="roundRect">
            <a:avLst>
              <a:gd name="adj" fmla="val 8889"/>
            </a:avLst>
          </a:prstGeom>
          <a:solidFill>
            <a:srgbClr val="1E293B"/>
          </a:solidFill>
          <a:ln/>
        </p:spPr>
      </p:sp>
      <p:sp>
        <p:nvSpPr>
          <p:cNvPr id="14" name="Shape 12"/>
          <p:cNvSpPr/>
          <p:nvPr/>
        </p:nvSpPr>
        <p:spPr>
          <a:xfrm>
            <a:off x="1005840" y="3063240"/>
            <a:ext cx="411480" cy="411480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15" name="Text 13"/>
          <p:cNvSpPr/>
          <p:nvPr/>
        </p:nvSpPr>
        <p:spPr>
          <a:xfrm>
            <a:off x="1005840" y="30632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645920" y="2971800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AI가 실시간 스트리밍으로 답변합니다.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645920" y="3337560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응답 시간, 토큰 사용량이 하단에 표시됩니다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31520" y="3886200"/>
            <a:ext cx="7680960" cy="822960"/>
          </a:xfrm>
          <a:prstGeom prst="roundRect">
            <a:avLst>
              <a:gd name="adj" fmla="val 8889"/>
            </a:avLst>
          </a:prstGeom>
          <a:solidFill>
            <a:srgbClr val="1E293B"/>
          </a:solidFill>
          <a:ln/>
        </p:spPr>
      </p:sp>
      <p:sp>
        <p:nvSpPr>
          <p:cNvPr id="19" name="Shape 17"/>
          <p:cNvSpPr/>
          <p:nvPr/>
        </p:nvSpPr>
        <p:spPr>
          <a:xfrm>
            <a:off x="1005840" y="4023360"/>
            <a:ext cx="411480" cy="411480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20" name="Text 18"/>
          <p:cNvSpPr/>
          <p:nvPr/>
        </p:nvSpPr>
        <p:spPr>
          <a:xfrm>
            <a:off x="1005840" y="40233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645920" y="3931920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후속 질문 버튼으로 연속 대화가 가능합니다.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645920" y="4297680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AI가 제안하는 관련 질문을 클릭하세요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2C5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4. 피드백 남기기 — 좋음 (Good)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77724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응답 아래 피드백 영역에서 평가를 남길 수 있습니다.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965960" cy="2560320"/>
          </a:xfrm>
          <a:prstGeom prst="roundRect">
            <a:avLst>
              <a:gd name="adj" fmla="val 4651"/>
            </a:avLst>
          </a:prstGeom>
          <a:solidFill>
            <a:srgbClr val="1E293B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55448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👍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'좋음' 버튼 클릭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답변이 적절하다고 판단되면 클릭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331720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38BDF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2606040" y="1371600"/>
            <a:ext cx="1965960" cy="2560320"/>
          </a:xfrm>
          <a:prstGeom prst="roundRect">
            <a:avLst>
              <a:gd name="adj" fmla="val 4651"/>
            </a:avLst>
          </a:prstGeom>
          <a:solidFill>
            <a:srgbClr val="1E293B"/>
          </a:solidFill>
          <a:ln/>
        </p:spPr>
      </p:sp>
      <p:sp>
        <p:nvSpPr>
          <p:cNvPr id="10" name="Text 8"/>
          <p:cNvSpPr/>
          <p:nvPr/>
        </p:nvSpPr>
        <p:spPr>
          <a:xfrm>
            <a:off x="2606040" y="155448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★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2606040" y="228600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별점 선택 (4~5점)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606040" y="2743200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좋음 선택 시 자동으로 4점 이상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480560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38BDF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4754880" y="1371600"/>
            <a:ext cx="1965960" cy="2560320"/>
          </a:xfrm>
          <a:prstGeom prst="roundRect">
            <a:avLst>
              <a:gd name="adj" fmla="val 4651"/>
            </a:avLst>
          </a:prstGeom>
          <a:solidFill>
            <a:srgbClr val="1E293B"/>
          </a:solidFill>
          <a:ln/>
        </p:spPr>
      </p:sp>
      <p:sp>
        <p:nvSpPr>
          <p:cNvPr id="15" name="Text 13"/>
          <p:cNvSpPr/>
          <p:nvPr/>
        </p:nvSpPr>
        <p:spPr>
          <a:xfrm>
            <a:off x="4754880" y="155448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✍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4754880" y="228600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메모 입력 (선택)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754880" y="2743200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어떤 점이 좋았는지 자유롭게 기록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629400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38BDF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6903720" y="1371600"/>
            <a:ext cx="1965960" cy="2560320"/>
          </a:xfrm>
          <a:prstGeom prst="roundRect">
            <a:avLst>
              <a:gd name="adj" fmla="val 4651"/>
            </a:avLst>
          </a:prstGeom>
          <a:solidFill>
            <a:srgbClr val="1E293B"/>
          </a:solidFill>
          <a:ln/>
        </p:spPr>
      </p:sp>
      <p:sp>
        <p:nvSpPr>
          <p:cNvPr id="20" name="Text 18"/>
          <p:cNvSpPr/>
          <p:nvPr/>
        </p:nvSpPr>
        <p:spPr>
          <a:xfrm>
            <a:off x="6903720" y="155448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💾</a:t>
            </a:r>
            <a:endParaRPr lang="en-US" sz="3600" dirty="0"/>
          </a:p>
        </p:txBody>
      </p:sp>
      <p:sp>
        <p:nvSpPr>
          <p:cNvPr id="21" name="Text 19"/>
          <p:cNvSpPr/>
          <p:nvPr/>
        </p:nvSpPr>
        <p:spPr>
          <a:xfrm>
            <a:off x="6903720" y="228600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'저장' 버튼 클릭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903720" y="2743200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피드백이 서버에 저장됩니다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F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4. 피드백 남기기 — 나쁨 (Bad)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77724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문제가 있는 답변에 대해 상세한 피드백을 남길 수 있습니다.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4114800" cy="3474720"/>
          </a:xfrm>
          <a:prstGeom prst="roundRect">
            <a:avLst>
              <a:gd name="adj" fmla="val 2632"/>
            </a:avLst>
          </a:prstGeom>
          <a:solidFill>
            <a:srgbClr val="1E293B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554480"/>
            <a:ext cx="320040" cy="32004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5544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234440" y="15087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1F5F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'나쁨' 버튼 클릭 → 별점 1~3점 선택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31520" y="2331720"/>
            <a:ext cx="320040" cy="32004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3317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234440" y="22860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1F5F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 태그 선택 (복수 선택 가능)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31520" y="3108960"/>
            <a:ext cx="320040" cy="32004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31089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234440" y="30632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1F5F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수정된 응답 작성 (선택사항)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31520" y="3886200"/>
            <a:ext cx="320040" cy="32004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38862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234440" y="38404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1F5F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메모 입력 후 '저장' 클릭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46320" y="12801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9E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 태그 종류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846320" y="1737360"/>
            <a:ext cx="1737360" cy="384048"/>
          </a:xfrm>
          <a:prstGeom prst="roundRect">
            <a:avLst>
              <a:gd name="adj" fmla="val 11905"/>
            </a:avLst>
          </a:prstGeom>
          <a:solidFill>
            <a:srgbClr val="2D3748"/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46320" y="173736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59E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진단언급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766560" y="1737360"/>
            <a:ext cx="1737360" cy="384048"/>
          </a:xfrm>
          <a:prstGeom prst="roundRect">
            <a:avLst>
              <a:gd name="adj" fmla="val 11905"/>
            </a:avLst>
          </a:prstGeom>
          <a:solidFill>
            <a:srgbClr val="2D3748"/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66560" y="173736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59E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처방시도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846320" y="2240280"/>
            <a:ext cx="1737360" cy="384048"/>
          </a:xfrm>
          <a:prstGeom prst="roundRect">
            <a:avLst>
              <a:gd name="adj" fmla="val 11905"/>
            </a:avLst>
          </a:prstGeom>
          <a:solidFill>
            <a:srgbClr val="2D3748"/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46320" y="224028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59E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치료지시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766560" y="2240280"/>
            <a:ext cx="1737360" cy="384048"/>
          </a:xfrm>
          <a:prstGeom prst="roundRect">
            <a:avLst>
              <a:gd name="adj" fmla="val 11905"/>
            </a:avLst>
          </a:prstGeom>
          <a:solidFill>
            <a:srgbClr val="2D3748"/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766560" y="224028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59E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적절한거절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846320" y="2743200"/>
            <a:ext cx="1737360" cy="384048"/>
          </a:xfrm>
          <a:prstGeom prst="roundRect">
            <a:avLst>
              <a:gd name="adj" fmla="val 11905"/>
            </a:avLst>
          </a:prstGeom>
          <a:solidFill>
            <a:srgbClr val="2D3748"/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46320" y="274320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59E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응급안내누락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766560" y="2743200"/>
            <a:ext cx="1737360" cy="384048"/>
          </a:xfrm>
          <a:prstGeom prst="roundRect">
            <a:avLst>
              <a:gd name="adj" fmla="val 11905"/>
            </a:avLst>
          </a:prstGeom>
          <a:solidFill>
            <a:srgbClr val="2D3748"/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766560" y="274320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59E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과잉친절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846320" y="3246120"/>
            <a:ext cx="1737360" cy="384048"/>
          </a:xfrm>
          <a:prstGeom prst="roundRect">
            <a:avLst>
              <a:gd name="adj" fmla="val 11905"/>
            </a:avLst>
          </a:prstGeom>
          <a:solidFill>
            <a:srgbClr val="2D3748"/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46320" y="324612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59E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정보부족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766560" y="3246120"/>
            <a:ext cx="1737360" cy="384048"/>
          </a:xfrm>
          <a:prstGeom prst="roundRect">
            <a:avLst>
              <a:gd name="adj" fmla="val 11905"/>
            </a:avLst>
          </a:prstGeom>
          <a:solidFill>
            <a:srgbClr val="2D3748"/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766560" y="324612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59E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우수답변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846320" y="3840480"/>
            <a:ext cx="3840480" cy="822960"/>
          </a:xfrm>
          <a:prstGeom prst="roundRect">
            <a:avLst>
              <a:gd name="adj" fmla="val 8889"/>
            </a:avLst>
          </a:prstGeom>
          <a:solidFill>
            <a:srgbClr val="1E3A5F"/>
          </a:solidFill>
          <a:ln/>
        </p:spPr>
      </p:sp>
      <p:sp>
        <p:nvSpPr>
          <p:cNvPr id="35" name="Text 33"/>
          <p:cNvSpPr/>
          <p:nvPr/>
        </p:nvSpPr>
        <p:spPr>
          <a:xfrm>
            <a:off x="5029200" y="393192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38BDF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TIP: </a:t>
            </a:r>
            <a:r>
              <a:rPr lang="en-US" sz="10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'수정된 응답'을 작성하면 AI 학습에 직접 활용됩니다. 의학적으로 더 적절한 답변을 작성해주세요.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59E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5. 커멘트 달기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77724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응답의 특정 부분에 대해 전문가 의견을 남길 수 있습니다.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4389120" cy="3474720"/>
          </a:xfrm>
          <a:prstGeom prst="roundRect">
            <a:avLst>
              <a:gd name="adj" fmla="val 2632"/>
            </a:avLst>
          </a:prstGeom>
          <a:solidFill>
            <a:srgbClr val="1E293B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554480"/>
            <a:ext cx="320040" cy="3200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5544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234440" y="150876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응답 하단의 '커멘트 달기' 버튼 클릭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31520" y="2331720"/>
            <a:ext cx="320040" cy="3200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3317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234440" y="228600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카테고리 선택 (부정확한 정보,</a:t>
            </a: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불충분한 답변, 위험한 조언 등)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31520" y="3108960"/>
            <a:ext cx="320040" cy="3200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31089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234440" y="306324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커멘트 내용을 입력합니다.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31520" y="3886200"/>
            <a:ext cx="320040" cy="3200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38862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234440" y="384048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'등록' 버튼을 클릭하면 저장됩니다.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120640" y="12801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9E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커멘트 카테고리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120640" y="1737360"/>
            <a:ext cx="3566160" cy="320040"/>
          </a:xfrm>
          <a:prstGeom prst="roundRect">
            <a:avLst>
              <a:gd name="adj" fmla="val 11429"/>
            </a:avLst>
          </a:prstGeom>
          <a:solidFill>
            <a:srgbClr val="2D3748"/>
          </a:solidFill>
          <a:ln/>
        </p:spPr>
      </p:sp>
      <p:sp>
        <p:nvSpPr>
          <p:cNvPr id="19" name="Text 17"/>
          <p:cNvSpPr/>
          <p:nvPr/>
        </p:nvSpPr>
        <p:spPr>
          <a:xfrm>
            <a:off x="5303520" y="17373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부정확한 정보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766560" y="17373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의학적으로 틀린 내용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120640" y="2121408"/>
            <a:ext cx="3566160" cy="320040"/>
          </a:xfrm>
          <a:prstGeom prst="roundRect">
            <a:avLst>
              <a:gd name="adj" fmla="val 11429"/>
            </a:avLst>
          </a:prstGeom>
          <a:solidFill>
            <a:srgbClr val="1E293B"/>
          </a:solidFill>
          <a:ln/>
        </p:spPr>
      </p:sp>
      <p:sp>
        <p:nvSpPr>
          <p:cNvPr id="22" name="Text 20"/>
          <p:cNvSpPr/>
          <p:nvPr/>
        </p:nvSpPr>
        <p:spPr>
          <a:xfrm>
            <a:off x="5303520" y="212140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불충분한 답변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766560" y="212140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빠진 정보가 있는 경우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120640" y="2505456"/>
            <a:ext cx="3566160" cy="320040"/>
          </a:xfrm>
          <a:prstGeom prst="roundRect">
            <a:avLst>
              <a:gd name="adj" fmla="val 11429"/>
            </a:avLst>
          </a:prstGeom>
          <a:solidFill>
            <a:srgbClr val="2D3748"/>
          </a:solidFill>
          <a:ln/>
        </p:spPr>
      </p:sp>
      <p:sp>
        <p:nvSpPr>
          <p:cNvPr id="25" name="Text 23"/>
          <p:cNvSpPr/>
          <p:nvPr/>
        </p:nvSpPr>
        <p:spPr>
          <a:xfrm>
            <a:off x="5303520" y="2505456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위험한 조언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766560" y="2505456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환자에게 위험할 수 있는 내용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120640" y="2889504"/>
            <a:ext cx="3566160" cy="320040"/>
          </a:xfrm>
          <a:prstGeom prst="roundRect">
            <a:avLst>
              <a:gd name="adj" fmla="val 11429"/>
            </a:avLst>
          </a:prstGeom>
          <a:solidFill>
            <a:srgbClr val="1E293B"/>
          </a:solidFill>
          <a:ln/>
        </p:spPr>
      </p:sp>
      <p:sp>
        <p:nvSpPr>
          <p:cNvPr id="28" name="Text 26"/>
          <p:cNvSpPr/>
          <p:nvPr/>
        </p:nvSpPr>
        <p:spPr>
          <a:xfrm>
            <a:off x="5303520" y="2889504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면책 조항 누락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766560" y="2889504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의료 면책 고지 없음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120640" y="3273552"/>
            <a:ext cx="3566160" cy="320040"/>
          </a:xfrm>
          <a:prstGeom prst="roundRect">
            <a:avLst>
              <a:gd name="adj" fmla="val 11429"/>
            </a:avLst>
          </a:prstGeom>
          <a:solidFill>
            <a:srgbClr val="2D3748"/>
          </a:solidFill>
          <a:ln/>
        </p:spPr>
      </p:sp>
      <p:sp>
        <p:nvSpPr>
          <p:cNvPr id="31" name="Text 29"/>
          <p:cNvSpPr/>
          <p:nvPr/>
        </p:nvSpPr>
        <p:spPr>
          <a:xfrm>
            <a:off x="5303520" y="327355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과잉 진단/처방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766560" y="327355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진단이나 처방을 시도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120640" y="3657600"/>
            <a:ext cx="3566160" cy="320040"/>
          </a:xfrm>
          <a:prstGeom prst="roundRect">
            <a:avLst>
              <a:gd name="adj" fmla="val 11429"/>
            </a:avLst>
          </a:prstGeom>
          <a:solidFill>
            <a:srgbClr val="1E293B"/>
          </a:solidFill>
          <a:ln/>
        </p:spPr>
      </p:sp>
      <p:sp>
        <p:nvSpPr>
          <p:cNvPr id="34" name="Text 32"/>
          <p:cNvSpPr/>
          <p:nvPr/>
        </p:nvSpPr>
        <p:spPr>
          <a:xfrm>
            <a:off x="5303520" y="36576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출처 불명확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766560" y="36576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근거 없는 주장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120640" y="4041648"/>
            <a:ext cx="3566160" cy="320040"/>
          </a:xfrm>
          <a:prstGeom prst="roundRect">
            <a:avLst>
              <a:gd name="adj" fmla="val 11429"/>
            </a:avLst>
          </a:prstGeom>
          <a:solidFill>
            <a:srgbClr val="2D3748"/>
          </a:solidFill>
          <a:ln/>
        </p:spPr>
      </p:sp>
      <p:sp>
        <p:nvSpPr>
          <p:cNvPr id="37" name="Text 35"/>
          <p:cNvSpPr/>
          <p:nvPr/>
        </p:nvSpPr>
        <p:spPr>
          <a:xfrm>
            <a:off x="5303520" y="404164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표현 부적절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766560" y="404164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부적절한 표현 사용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5120640" y="4425696"/>
            <a:ext cx="3566160" cy="320040"/>
          </a:xfrm>
          <a:prstGeom prst="roundRect">
            <a:avLst>
              <a:gd name="adj" fmla="val 11429"/>
            </a:avLst>
          </a:prstGeom>
          <a:solidFill>
            <a:srgbClr val="1E293B"/>
          </a:solidFill>
          <a:ln/>
        </p:spPr>
      </p:sp>
      <p:sp>
        <p:nvSpPr>
          <p:cNvPr id="40" name="Text 38"/>
          <p:cNvSpPr/>
          <p:nvPr/>
        </p:nvSpPr>
        <p:spPr>
          <a:xfrm>
            <a:off x="5303520" y="4425696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기타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766560" y="4425696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기타 의견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5120640" y="4572000"/>
            <a:ext cx="3566160" cy="365760"/>
          </a:xfrm>
          <a:prstGeom prst="roundRect">
            <a:avLst>
              <a:gd name="adj" fmla="val 12500"/>
            </a:avLst>
          </a:prstGeom>
          <a:solidFill>
            <a:srgbClr val="1E3A5F"/>
          </a:solidFill>
          <a:ln/>
        </p:spPr>
      </p:sp>
      <p:sp>
        <p:nvSpPr>
          <p:cNvPr id="43" name="Text 41"/>
          <p:cNvSpPr/>
          <p:nvPr/>
        </p:nvSpPr>
        <p:spPr>
          <a:xfrm>
            <a:off x="5303520" y="45720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8BDF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커멘트는 RLHF 관리 &gt; 커멘트 탭에서 모아 볼 수 있습니다.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8BDF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6. 시나리오 추출 및 등록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77724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대화 중 발견한 유의미한 질문을 테스트 시나리오로 등록할 수 있습니다.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8229600" cy="640080"/>
          </a:xfrm>
          <a:prstGeom prst="roundRect">
            <a:avLst>
              <a:gd name="adj" fmla="val 11429"/>
            </a:avLst>
          </a:prstGeom>
          <a:solidFill>
            <a:srgbClr val="1E293B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371600"/>
            <a:ext cx="365760" cy="365760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371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88720" y="13258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📋 시나리오 추출 버튼 클릭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0" y="132588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대화 상단에 위치한 '시나리오 추출'</a:t>
            </a: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버튼을 클릭합니다.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011680"/>
            <a:ext cx="8229600" cy="640080"/>
          </a:xfrm>
          <a:prstGeom prst="roundRect">
            <a:avLst>
              <a:gd name="adj" fmla="val 11429"/>
            </a:avLst>
          </a:prstGeom>
          <a:solidFill>
            <a:srgbClr val="1E293B"/>
          </a:solidFill>
          <a:ln/>
        </p:spPr>
      </p:sp>
      <p:sp>
        <p:nvSpPr>
          <p:cNvPr id="10" name="Shape 8"/>
          <p:cNvSpPr/>
          <p:nvPr/>
        </p:nvSpPr>
        <p:spPr>
          <a:xfrm>
            <a:off x="640080" y="2103120"/>
            <a:ext cx="365760" cy="365760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103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88720" y="20574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✅ 추출할 턴 선택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114800" y="205740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대화 중 시나리오로 등록할</a:t>
            </a: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Q&amp;A 턴을 체크합니다.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743200"/>
            <a:ext cx="8229600" cy="640080"/>
          </a:xfrm>
          <a:prstGeom prst="roundRect">
            <a:avLst>
              <a:gd name="adj" fmla="val 11429"/>
            </a:avLst>
          </a:prstGeom>
          <a:solidFill>
            <a:srgbClr val="1E293B"/>
          </a:solidFill>
          <a:ln/>
        </p:spPr>
      </p:sp>
      <p:sp>
        <p:nvSpPr>
          <p:cNvPr id="15" name="Shape 13"/>
          <p:cNvSpPr/>
          <p:nvPr/>
        </p:nvSpPr>
        <p:spPr>
          <a:xfrm>
            <a:off x="640080" y="2834640"/>
            <a:ext cx="365760" cy="365760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2834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188720" y="27889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🤖 GPT 자동 분류 (선택)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114800" y="278892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체크하면 카테고리, 리스크 레벨을</a:t>
            </a: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GPT가 자동으로 분류합니다.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474720"/>
            <a:ext cx="8229600" cy="640080"/>
          </a:xfrm>
          <a:prstGeom prst="roundRect">
            <a:avLst>
              <a:gd name="adj" fmla="val 11429"/>
            </a:avLst>
          </a:prstGeom>
          <a:solidFill>
            <a:srgbClr val="1E293B"/>
          </a:solidFill>
          <a:ln/>
        </p:spPr>
      </p:sp>
      <p:sp>
        <p:nvSpPr>
          <p:cNvPr id="20" name="Shape 18"/>
          <p:cNvSpPr/>
          <p:nvPr/>
        </p:nvSpPr>
        <p:spPr>
          <a:xfrm>
            <a:off x="640080" y="3566160"/>
            <a:ext cx="365760" cy="365760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3566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188720" y="35204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✏️ 내용 확인 및 편집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114800" y="352044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카테고리, 리스크, 프롬프트,</a:t>
            </a: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기대 동작, 태그를 편집합니다.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4206240"/>
            <a:ext cx="8229600" cy="640080"/>
          </a:xfrm>
          <a:prstGeom prst="roundRect">
            <a:avLst>
              <a:gd name="adj" fmla="val 11429"/>
            </a:avLst>
          </a:prstGeom>
          <a:solidFill>
            <a:srgbClr val="1E293B"/>
          </a:solidFill>
          <a:ln/>
        </p:spPr>
      </p:sp>
      <p:sp>
        <p:nvSpPr>
          <p:cNvPr id="25" name="Shape 23"/>
          <p:cNvSpPr/>
          <p:nvPr/>
        </p:nvSpPr>
        <p:spPr>
          <a:xfrm>
            <a:off x="640080" y="4297680"/>
            <a:ext cx="365760" cy="365760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4297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188720" y="42519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💾 시나리오 저장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114800" y="425196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저장하면 시나리오 관리 페이지에</a:t>
            </a: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등록됩니다.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8BDF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6. 시나리오 관리 페이지</a:t>
            </a:r>
            <a:endParaRPr lang="en-US" sz="28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914400"/>
            <a:ext cx="8229600" cy="384048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57200" y="4572000"/>
            <a:ext cx="8229600" cy="365760"/>
          </a:xfrm>
          <a:prstGeom prst="roundRect">
            <a:avLst>
              <a:gd name="adj" fmla="val 12500"/>
            </a:avLst>
          </a:prstGeom>
          <a:solidFill>
            <a:srgbClr val="1E293B"/>
          </a:solidFill>
          <a:ln/>
        </p:spPr>
      </p:sp>
      <p:sp>
        <p:nvSpPr>
          <p:cNvPr id="5" name="Text 2"/>
          <p:cNvSpPr/>
          <p:nvPr/>
        </p:nvSpPr>
        <p:spPr>
          <a:xfrm>
            <a:off x="640080" y="45720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추출된 시나리오는 '시나리오 관리' 페이지에서 카테고리별로 확인, 편집, 배치 테스트 실행이 가능합니다.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8BDF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7. RLHF 관리에서 결과 확인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77724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상단 메뉴의 'RLHF 관리'에서 수집된 피드백과 커멘트를 확인할 수 있습니다.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4023360" cy="1463040"/>
          </a:xfrm>
          <a:prstGeom prst="roundRect">
            <a:avLst>
              <a:gd name="adj" fmla="val 6250"/>
            </a:avLst>
          </a:prstGeom>
          <a:solidFill>
            <a:srgbClr val="1E293B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463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📊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280160" y="15087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개요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80160" y="192024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총 피드백 수, 선호도 쌍, Export 대기,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평균 Reward 통계를 한눈에 확인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1371600"/>
            <a:ext cx="4023360" cy="1463040"/>
          </a:xfrm>
          <a:prstGeom prst="roundRect">
            <a:avLst>
              <a:gd name="adj" fmla="val 6250"/>
            </a:avLst>
          </a:prstGeom>
          <a:solidFill>
            <a:srgbClr val="1E293B"/>
          </a:solidFill>
          <a:ln/>
        </p:spPr>
      </p:sp>
      <p:sp>
        <p:nvSpPr>
          <p:cNvPr id="9" name="Text 7"/>
          <p:cNvSpPr/>
          <p:nvPr/>
        </p:nvSpPr>
        <p:spPr>
          <a:xfrm>
            <a:off x="4937760" y="1463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📋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5577840" y="15087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피드백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577840" y="192024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테스터가 남긴 좋음/나쁨 피드백,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별점, 태그, 메모를 시간순 조회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108960"/>
            <a:ext cx="4023360" cy="1463040"/>
          </a:xfrm>
          <a:prstGeom prst="roundRect">
            <a:avLst>
              <a:gd name="adj" fmla="val 6250"/>
            </a:avLst>
          </a:prstGeom>
          <a:solidFill>
            <a:srgbClr val="1E293B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200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💬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1280160" y="32461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커멘트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80160" y="365760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채팅 테스터에서 달린 커멘트를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카테고리별로 카드형태로 확인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0" y="3108960"/>
            <a:ext cx="4023360" cy="1463040"/>
          </a:xfrm>
          <a:prstGeom prst="roundRect">
            <a:avLst>
              <a:gd name="adj" fmla="val 6250"/>
            </a:avLst>
          </a:prstGeom>
          <a:solidFill>
            <a:srgbClr val="1E293B"/>
          </a:solidFill>
          <a:ln/>
        </p:spPr>
      </p:sp>
      <p:sp>
        <p:nvSpPr>
          <p:cNvPr id="17" name="Text 15"/>
          <p:cNvSpPr/>
          <p:nvPr/>
        </p:nvSpPr>
        <p:spPr>
          <a:xfrm>
            <a:off x="4937760" y="3200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📦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5577840" y="32461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Export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577840" y="365760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DPO 학습용 데이터를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OpenAI/HuggingFace 포맷으로 내보내기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8BDF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전체 워크플로우 요약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1554480" cy="2286000"/>
          </a:xfrm>
          <a:prstGeom prst="roundRect">
            <a:avLst>
              <a:gd name="adj" fmla="val 5882"/>
            </a:avLst>
          </a:prstGeom>
          <a:solidFill>
            <a:srgbClr val="1E293B"/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🔐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228600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8BDF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회원가입 &amp; 로그인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05840" y="30175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920240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2194560" y="1188720"/>
            <a:ext cx="1554480" cy="2286000"/>
          </a:xfrm>
          <a:prstGeom prst="roundRect">
            <a:avLst>
              <a:gd name="adj" fmla="val 5882"/>
            </a:avLst>
          </a:prstGeom>
          <a:solidFill>
            <a:srgbClr val="1E293B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194560" y="137160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💬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2194560" y="228600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2C5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AI와 대화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743200" y="30175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657600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3931920" y="1188720"/>
            <a:ext cx="1554480" cy="2286000"/>
          </a:xfrm>
          <a:prstGeom prst="roundRect">
            <a:avLst>
              <a:gd name="adj" fmla="val 5882"/>
            </a:avLst>
          </a:prstGeom>
          <a:solidFill>
            <a:srgbClr val="1E293B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931920" y="137160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👍👎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3931920" y="228600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9E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피드백 남기기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480560" y="30175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394960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5669280" y="1188720"/>
            <a:ext cx="1554480" cy="2286000"/>
          </a:xfrm>
          <a:prstGeom prst="roundRect">
            <a:avLst>
              <a:gd name="adj" fmla="val 5882"/>
            </a:avLst>
          </a:prstGeom>
          <a:solidFill>
            <a:srgbClr val="1E293B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69280" y="137160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📝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5669280" y="228600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9E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커멘트 달기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217920" y="30175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132320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7406640" y="1188720"/>
            <a:ext cx="1554480" cy="2286000"/>
          </a:xfrm>
          <a:prstGeom prst="roundRect">
            <a:avLst>
              <a:gd name="adj" fmla="val 5882"/>
            </a:avLst>
          </a:prstGeom>
          <a:solidFill>
            <a:srgbClr val="1E293B"/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406640" y="137160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📋</a:t>
            </a:r>
            <a:endParaRPr lang="en-US" sz="3600" dirty="0"/>
          </a:p>
        </p:txBody>
      </p:sp>
      <p:sp>
        <p:nvSpPr>
          <p:cNvPr id="25" name="Text 23"/>
          <p:cNvSpPr/>
          <p:nvPr/>
        </p:nvSpPr>
        <p:spPr>
          <a:xfrm>
            <a:off x="7406640" y="228600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8BDF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시나리오 등록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955280" y="30175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457200" y="3931920"/>
            <a:ext cx="8229600" cy="91440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/>
        </p:spPr>
      </p:sp>
      <p:sp>
        <p:nvSpPr>
          <p:cNvPr id="28" name="Text 26"/>
          <p:cNvSpPr/>
          <p:nvPr/>
        </p:nvSpPr>
        <p:spPr>
          <a:xfrm>
            <a:off x="731520" y="41148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수집된 피드백과 커멘트는 </a:t>
            </a:r>
            <a:r>
              <a:rPr lang="en-US" sz="1300" b="1" dirty="0">
                <a:solidFill>
                  <a:srgbClr val="38BDF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RLHF 관리</a:t>
            </a:r>
            <a:r>
              <a:rPr lang="en-US" sz="13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페이지에서 통합 확인되며, </a:t>
            </a:r>
            <a:r>
              <a:rPr lang="en-US" sz="1300" b="1" dirty="0">
                <a:solidFill>
                  <a:srgbClr val="22C5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DPO 학습 데이터</a:t>
            </a:r>
            <a:r>
              <a:rPr lang="en-US" sz="13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 Export하여 AI 성능 개선에 직접 활용됩니다.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38BDF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감사합니다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246888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문의사항은 관리자에게 연락해 주세요.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2743200" y="3200400"/>
            <a:ext cx="3657600" cy="457200"/>
          </a:xfrm>
          <a:prstGeom prst="roundRect">
            <a:avLst>
              <a:gd name="adj" fmla="val 16000"/>
            </a:avLst>
          </a:prstGeom>
          <a:solidFill>
            <a:srgbClr val="1E293B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0" y="32004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1F5F9"/>
                </a:solidFill>
                <a:latin typeface="맑은 고딕" pitchFamily="34" charset="0"/>
                <a:ea typeface="맑은 고딕" pitchFamily="34" charset="-122"/>
              </a:rPr>
              <a:t>seongil.han@sk.</a:t>
            </a:r>
            <a:r>
              <a:rPr lang="en-US" altLang="ko-KR" sz="1300" dirty="0">
                <a:solidFill>
                  <a:srgbClr val="F1F5F9"/>
                </a:solidFill>
                <a:latin typeface="맑은 고딕" pitchFamily="34" charset="0"/>
                <a:ea typeface="맑은 고딕" pitchFamily="34" charset="-122"/>
              </a:rPr>
              <a:t>com</a:t>
            </a:r>
            <a:r>
              <a:rPr lang="ko-KR" altLang="en-US" sz="1300" dirty="0">
                <a:solidFill>
                  <a:srgbClr val="F1F5F9"/>
                </a:solidFill>
                <a:latin typeface="맑은 고딕" pitchFamily="34" charset="0"/>
                <a:ea typeface="맑은 고딕" pitchFamily="34" charset="-122"/>
              </a:rPr>
              <a:t> 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789</Words>
  <Application>Microsoft Office PowerPoint</Application>
  <PresentationFormat>화면 슬라이드 쇼(16:9)</PresentationFormat>
  <Paragraphs>210</Paragraphs>
  <Slides>14</Slides>
  <Notes>14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18" baseType="lpstr">
      <vt:lpstr>맑은 고딕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나만의 주치의 — 테스터 매뉴얼</dc:title>
  <dc:subject>PptxGenJS Presentation</dc:subject>
  <dc:creator>SKIX</dc:creator>
  <cp:lastModifiedBy>한성일/PL/AI사업개발팀/SKMG</cp:lastModifiedBy>
  <cp:revision>2</cp:revision>
  <dcterms:created xsi:type="dcterms:W3CDTF">2026-04-06T05:17:53Z</dcterms:created>
  <dcterms:modified xsi:type="dcterms:W3CDTF">2026-04-06T05:21:05Z</dcterms:modified>
</cp:coreProperties>
</file>